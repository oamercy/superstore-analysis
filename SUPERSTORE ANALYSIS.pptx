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60" r:id="rId5"/>
    <p:sldId id="261" r:id="rId6"/>
    <p:sldId id="262" r:id="rId7"/>
    <p:sldId id="263" r:id="rId8"/>
    <p:sldId id="264"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4" autoAdjust="0"/>
    <p:restoredTop sz="94660"/>
  </p:normalViewPr>
  <p:slideViewPr>
    <p:cSldViewPr snapToGrid="0">
      <p:cViewPr varScale="1">
        <p:scale>
          <a:sx n="82" d="100"/>
          <a:sy n="82" d="100"/>
        </p:scale>
        <p:origin x="120"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EF4A1-180A-48C7-9DBA-2AFC3CD2BFF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AFDA360-867F-4954-AC6F-00D3C35BF65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074F298-7D4B-4C91-9477-80EB859DA7C9}"/>
              </a:ext>
            </a:extLst>
          </p:cNvPr>
          <p:cNvSpPr>
            <a:spLocks noGrp="1"/>
          </p:cNvSpPr>
          <p:nvPr>
            <p:ph type="dt" sz="half" idx="10"/>
          </p:nvPr>
        </p:nvSpPr>
        <p:spPr/>
        <p:txBody>
          <a:bodyPr/>
          <a:lstStyle/>
          <a:p>
            <a:fld id="{7987E773-7153-45E4-BC63-7F1AEF216F8F}" type="datetimeFigureOut">
              <a:rPr lang="en-US" smtClean="0"/>
              <a:t>6/1/2026</a:t>
            </a:fld>
            <a:endParaRPr lang="en-US"/>
          </a:p>
        </p:txBody>
      </p:sp>
      <p:sp>
        <p:nvSpPr>
          <p:cNvPr id="5" name="Footer Placeholder 4">
            <a:extLst>
              <a:ext uri="{FF2B5EF4-FFF2-40B4-BE49-F238E27FC236}">
                <a16:creationId xmlns:a16="http://schemas.microsoft.com/office/drawing/2014/main" id="{0C7826AE-87E4-4B89-81C1-F44C0E36C9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BBBE0A9-0325-45D3-872C-879F7F43DF20}"/>
              </a:ext>
            </a:extLst>
          </p:cNvPr>
          <p:cNvSpPr>
            <a:spLocks noGrp="1"/>
          </p:cNvSpPr>
          <p:nvPr>
            <p:ph type="sldNum" sz="quarter" idx="12"/>
          </p:nvPr>
        </p:nvSpPr>
        <p:spPr/>
        <p:txBody>
          <a:bodyPr/>
          <a:lstStyle/>
          <a:p>
            <a:fld id="{CB410872-B2BB-4F13-B463-80C58170E134}" type="slidenum">
              <a:rPr lang="en-US" smtClean="0"/>
              <a:t>‹#›</a:t>
            </a:fld>
            <a:endParaRPr lang="en-US"/>
          </a:p>
        </p:txBody>
      </p:sp>
    </p:spTree>
    <p:extLst>
      <p:ext uri="{BB962C8B-B14F-4D97-AF65-F5344CB8AC3E}">
        <p14:creationId xmlns:p14="http://schemas.microsoft.com/office/powerpoint/2010/main" val="27961409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C22744-86B7-4A3F-A927-10CFF5DA498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7F8C0E7-154C-4C73-A182-34471CC738D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5BEDEB2-31BB-4921-AFA5-0B68C4D43797}"/>
              </a:ext>
            </a:extLst>
          </p:cNvPr>
          <p:cNvSpPr>
            <a:spLocks noGrp="1"/>
          </p:cNvSpPr>
          <p:nvPr>
            <p:ph type="dt" sz="half" idx="10"/>
          </p:nvPr>
        </p:nvSpPr>
        <p:spPr/>
        <p:txBody>
          <a:bodyPr/>
          <a:lstStyle/>
          <a:p>
            <a:fld id="{7987E773-7153-45E4-BC63-7F1AEF216F8F}" type="datetimeFigureOut">
              <a:rPr lang="en-US" smtClean="0"/>
              <a:t>6/1/2026</a:t>
            </a:fld>
            <a:endParaRPr lang="en-US"/>
          </a:p>
        </p:txBody>
      </p:sp>
      <p:sp>
        <p:nvSpPr>
          <p:cNvPr id="5" name="Footer Placeholder 4">
            <a:extLst>
              <a:ext uri="{FF2B5EF4-FFF2-40B4-BE49-F238E27FC236}">
                <a16:creationId xmlns:a16="http://schemas.microsoft.com/office/drawing/2014/main" id="{9E02FBA0-6AC6-429B-B573-E8DCAA257AF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745E69-5D8F-46BA-B585-4B8559E106F8}"/>
              </a:ext>
            </a:extLst>
          </p:cNvPr>
          <p:cNvSpPr>
            <a:spLocks noGrp="1"/>
          </p:cNvSpPr>
          <p:nvPr>
            <p:ph type="sldNum" sz="quarter" idx="12"/>
          </p:nvPr>
        </p:nvSpPr>
        <p:spPr/>
        <p:txBody>
          <a:bodyPr/>
          <a:lstStyle/>
          <a:p>
            <a:fld id="{CB410872-B2BB-4F13-B463-80C58170E134}" type="slidenum">
              <a:rPr lang="en-US" smtClean="0"/>
              <a:t>‹#›</a:t>
            </a:fld>
            <a:endParaRPr lang="en-US"/>
          </a:p>
        </p:txBody>
      </p:sp>
    </p:spTree>
    <p:extLst>
      <p:ext uri="{BB962C8B-B14F-4D97-AF65-F5344CB8AC3E}">
        <p14:creationId xmlns:p14="http://schemas.microsoft.com/office/powerpoint/2010/main" val="13361603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CF3FB8-557B-4D0E-B3EE-C5EF51D4B12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E2A4A33-AB44-4A86-BF23-E19D44F2DC2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B1F99CF-A01E-4FFB-B8B4-E1AC2B615FC6}"/>
              </a:ext>
            </a:extLst>
          </p:cNvPr>
          <p:cNvSpPr>
            <a:spLocks noGrp="1"/>
          </p:cNvSpPr>
          <p:nvPr>
            <p:ph type="dt" sz="half" idx="10"/>
          </p:nvPr>
        </p:nvSpPr>
        <p:spPr/>
        <p:txBody>
          <a:bodyPr/>
          <a:lstStyle/>
          <a:p>
            <a:fld id="{7987E773-7153-45E4-BC63-7F1AEF216F8F}" type="datetimeFigureOut">
              <a:rPr lang="en-US" smtClean="0"/>
              <a:t>6/1/2026</a:t>
            </a:fld>
            <a:endParaRPr lang="en-US"/>
          </a:p>
        </p:txBody>
      </p:sp>
      <p:sp>
        <p:nvSpPr>
          <p:cNvPr id="5" name="Footer Placeholder 4">
            <a:extLst>
              <a:ext uri="{FF2B5EF4-FFF2-40B4-BE49-F238E27FC236}">
                <a16:creationId xmlns:a16="http://schemas.microsoft.com/office/drawing/2014/main" id="{492A59F0-BB4D-4050-AFBF-D3D9906314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5FD2FBD-ECAB-4A5D-A2B5-06CFBBCBB3FE}"/>
              </a:ext>
            </a:extLst>
          </p:cNvPr>
          <p:cNvSpPr>
            <a:spLocks noGrp="1"/>
          </p:cNvSpPr>
          <p:nvPr>
            <p:ph type="sldNum" sz="quarter" idx="12"/>
          </p:nvPr>
        </p:nvSpPr>
        <p:spPr/>
        <p:txBody>
          <a:bodyPr/>
          <a:lstStyle/>
          <a:p>
            <a:fld id="{CB410872-B2BB-4F13-B463-80C58170E134}" type="slidenum">
              <a:rPr lang="en-US" smtClean="0"/>
              <a:t>‹#›</a:t>
            </a:fld>
            <a:endParaRPr lang="en-US"/>
          </a:p>
        </p:txBody>
      </p:sp>
    </p:spTree>
    <p:extLst>
      <p:ext uri="{BB962C8B-B14F-4D97-AF65-F5344CB8AC3E}">
        <p14:creationId xmlns:p14="http://schemas.microsoft.com/office/powerpoint/2010/main" val="24661570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FE5E4E-B4F0-4DE6-B484-C39B0D37E7B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6A3238E-88BC-4315-94C0-D5C25DAB144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F9969E2-DB91-4342-8E8C-E1AF0601A33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59202CD-502D-4403-BE0E-2F50F2478F69}"/>
              </a:ext>
            </a:extLst>
          </p:cNvPr>
          <p:cNvSpPr>
            <a:spLocks noGrp="1"/>
          </p:cNvSpPr>
          <p:nvPr>
            <p:ph type="dt" sz="half" idx="10"/>
          </p:nvPr>
        </p:nvSpPr>
        <p:spPr/>
        <p:txBody>
          <a:bodyPr/>
          <a:lstStyle/>
          <a:p>
            <a:fld id="{7987E773-7153-45E4-BC63-7F1AEF216F8F}" type="datetimeFigureOut">
              <a:rPr lang="en-US" smtClean="0"/>
              <a:t>6/1/2026</a:t>
            </a:fld>
            <a:endParaRPr lang="en-US"/>
          </a:p>
        </p:txBody>
      </p:sp>
      <p:sp>
        <p:nvSpPr>
          <p:cNvPr id="6" name="Footer Placeholder 5">
            <a:extLst>
              <a:ext uri="{FF2B5EF4-FFF2-40B4-BE49-F238E27FC236}">
                <a16:creationId xmlns:a16="http://schemas.microsoft.com/office/drawing/2014/main" id="{F6BC42DB-A3F2-40D7-9D34-16F6920FB5B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EE81D81-E7B3-45C6-B492-06A07F5BFE99}"/>
              </a:ext>
            </a:extLst>
          </p:cNvPr>
          <p:cNvSpPr>
            <a:spLocks noGrp="1"/>
          </p:cNvSpPr>
          <p:nvPr>
            <p:ph type="sldNum" sz="quarter" idx="12"/>
          </p:nvPr>
        </p:nvSpPr>
        <p:spPr/>
        <p:txBody>
          <a:bodyPr/>
          <a:lstStyle/>
          <a:p>
            <a:fld id="{CB410872-B2BB-4F13-B463-80C58170E134}" type="slidenum">
              <a:rPr lang="en-US" smtClean="0"/>
              <a:t>‹#›</a:t>
            </a:fld>
            <a:endParaRPr lang="en-US"/>
          </a:p>
        </p:txBody>
      </p:sp>
    </p:spTree>
    <p:extLst>
      <p:ext uri="{BB962C8B-B14F-4D97-AF65-F5344CB8AC3E}">
        <p14:creationId xmlns:p14="http://schemas.microsoft.com/office/powerpoint/2010/main" val="33174940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C5B5B-D440-4F8C-9EEF-4693716E426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45387EB-696E-4CA6-86C9-C9F37B97389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186EC1E-860C-4CDA-8ACC-358ED5E16DE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9A4CB03-232A-47A6-9776-055CF9116E2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A5A288-4717-4613-9E69-1F8B3844FF1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16777CF-269C-4A49-8139-93EA4750B5EF}"/>
              </a:ext>
            </a:extLst>
          </p:cNvPr>
          <p:cNvSpPr>
            <a:spLocks noGrp="1"/>
          </p:cNvSpPr>
          <p:nvPr>
            <p:ph type="dt" sz="half" idx="10"/>
          </p:nvPr>
        </p:nvSpPr>
        <p:spPr/>
        <p:txBody>
          <a:bodyPr/>
          <a:lstStyle/>
          <a:p>
            <a:fld id="{7987E773-7153-45E4-BC63-7F1AEF216F8F}" type="datetimeFigureOut">
              <a:rPr lang="en-US" smtClean="0"/>
              <a:t>6/1/2026</a:t>
            </a:fld>
            <a:endParaRPr lang="en-US"/>
          </a:p>
        </p:txBody>
      </p:sp>
      <p:sp>
        <p:nvSpPr>
          <p:cNvPr id="8" name="Footer Placeholder 7">
            <a:extLst>
              <a:ext uri="{FF2B5EF4-FFF2-40B4-BE49-F238E27FC236}">
                <a16:creationId xmlns:a16="http://schemas.microsoft.com/office/drawing/2014/main" id="{F7AB3D65-7A4B-4DBF-942C-65815C3644F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4721697-9834-44ED-9879-79DD3B0D75E4}"/>
              </a:ext>
            </a:extLst>
          </p:cNvPr>
          <p:cNvSpPr>
            <a:spLocks noGrp="1"/>
          </p:cNvSpPr>
          <p:nvPr>
            <p:ph type="sldNum" sz="quarter" idx="12"/>
          </p:nvPr>
        </p:nvSpPr>
        <p:spPr/>
        <p:txBody>
          <a:bodyPr/>
          <a:lstStyle/>
          <a:p>
            <a:fld id="{CB410872-B2BB-4F13-B463-80C58170E134}" type="slidenum">
              <a:rPr lang="en-US" smtClean="0"/>
              <a:t>‹#›</a:t>
            </a:fld>
            <a:endParaRPr lang="en-US"/>
          </a:p>
        </p:txBody>
      </p:sp>
    </p:spTree>
    <p:extLst>
      <p:ext uri="{BB962C8B-B14F-4D97-AF65-F5344CB8AC3E}">
        <p14:creationId xmlns:p14="http://schemas.microsoft.com/office/powerpoint/2010/main" val="16299533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6BC47-ABB1-421C-A585-B0ACEF395DE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51474C9-7196-4EF7-B8FD-12169F1B9C7F}"/>
              </a:ext>
            </a:extLst>
          </p:cNvPr>
          <p:cNvSpPr>
            <a:spLocks noGrp="1"/>
          </p:cNvSpPr>
          <p:nvPr>
            <p:ph type="dt" sz="half" idx="10"/>
          </p:nvPr>
        </p:nvSpPr>
        <p:spPr/>
        <p:txBody>
          <a:bodyPr/>
          <a:lstStyle/>
          <a:p>
            <a:fld id="{7987E773-7153-45E4-BC63-7F1AEF216F8F}" type="datetimeFigureOut">
              <a:rPr lang="en-US" smtClean="0"/>
              <a:t>6/1/2026</a:t>
            </a:fld>
            <a:endParaRPr lang="en-US"/>
          </a:p>
        </p:txBody>
      </p:sp>
      <p:sp>
        <p:nvSpPr>
          <p:cNvPr id="4" name="Footer Placeholder 3">
            <a:extLst>
              <a:ext uri="{FF2B5EF4-FFF2-40B4-BE49-F238E27FC236}">
                <a16:creationId xmlns:a16="http://schemas.microsoft.com/office/drawing/2014/main" id="{D602CEDC-8AD7-47A2-B015-527403EA07A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BB1634B-1AD3-4BDD-97E7-EFDED2CBC36F}"/>
              </a:ext>
            </a:extLst>
          </p:cNvPr>
          <p:cNvSpPr>
            <a:spLocks noGrp="1"/>
          </p:cNvSpPr>
          <p:nvPr>
            <p:ph type="sldNum" sz="quarter" idx="12"/>
          </p:nvPr>
        </p:nvSpPr>
        <p:spPr/>
        <p:txBody>
          <a:bodyPr/>
          <a:lstStyle/>
          <a:p>
            <a:fld id="{CB410872-B2BB-4F13-B463-80C58170E134}" type="slidenum">
              <a:rPr lang="en-US" smtClean="0"/>
              <a:t>‹#›</a:t>
            </a:fld>
            <a:endParaRPr lang="en-US"/>
          </a:p>
        </p:txBody>
      </p:sp>
    </p:spTree>
    <p:extLst>
      <p:ext uri="{BB962C8B-B14F-4D97-AF65-F5344CB8AC3E}">
        <p14:creationId xmlns:p14="http://schemas.microsoft.com/office/powerpoint/2010/main" val="37069776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61E803A-6E9D-4280-BA0B-CB795C3CCFB0}"/>
              </a:ext>
            </a:extLst>
          </p:cNvPr>
          <p:cNvSpPr>
            <a:spLocks noGrp="1"/>
          </p:cNvSpPr>
          <p:nvPr>
            <p:ph type="dt" sz="half" idx="10"/>
          </p:nvPr>
        </p:nvSpPr>
        <p:spPr/>
        <p:txBody>
          <a:bodyPr/>
          <a:lstStyle/>
          <a:p>
            <a:fld id="{7987E773-7153-45E4-BC63-7F1AEF216F8F}" type="datetimeFigureOut">
              <a:rPr lang="en-US" smtClean="0"/>
              <a:t>6/1/2026</a:t>
            </a:fld>
            <a:endParaRPr lang="en-US"/>
          </a:p>
        </p:txBody>
      </p:sp>
      <p:sp>
        <p:nvSpPr>
          <p:cNvPr id="3" name="Footer Placeholder 2">
            <a:extLst>
              <a:ext uri="{FF2B5EF4-FFF2-40B4-BE49-F238E27FC236}">
                <a16:creationId xmlns:a16="http://schemas.microsoft.com/office/drawing/2014/main" id="{4ABCE350-D158-48BF-B59D-5DD459AF530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4C4C557-13BF-4153-9339-B6BAAE403A22}"/>
              </a:ext>
            </a:extLst>
          </p:cNvPr>
          <p:cNvSpPr>
            <a:spLocks noGrp="1"/>
          </p:cNvSpPr>
          <p:nvPr>
            <p:ph type="sldNum" sz="quarter" idx="12"/>
          </p:nvPr>
        </p:nvSpPr>
        <p:spPr/>
        <p:txBody>
          <a:bodyPr/>
          <a:lstStyle/>
          <a:p>
            <a:fld id="{CB410872-B2BB-4F13-B463-80C58170E134}" type="slidenum">
              <a:rPr lang="en-US" smtClean="0"/>
              <a:t>‹#›</a:t>
            </a:fld>
            <a:endParaRPr lang="en-US"/>
          </a:p>
        </p:txBody>
      </p:sp>
    </p:spTree>
    <p:extLst>
      <p:ext uri="{BB962C8B-B14F-4D97-AF65-F5344CB8AC3E}">
        <p14:creationId xmlns:p14="http://schemas.microsoft.com/office/powerpoint/2010/main" val="35143085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3DD4EE-E770-432C-A6B6-346B7A973B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510123E-D7D3-4ECD-8039-1F56B82FB04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BBB1563-BC7A-4866-BFED-4AE7CA6EE3A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FE09811-1FBF-482D-B4D9-D206D0627A41}"/>
              </a:ext>
            </a:extLst>
          </p:cNvPr>
          <p:cNvSpPr>
            <a:spLocks noGrp="1"/>
          </p:cNvSpPr>
          <p:nvPr>
            <p:ph type="dt" sz="half" idx="10"/>
          </p:nvPr>
        </p:nvSpPr>
        <p:spPr/>
        <p:txBody>
          <a:bodyPr/>
          <a:lstStyle/>
          <a:p>
            <a:fld id="{7987E773-7153-45E4-BC63-7F1AEF216F8F}" type="datetimeFigureOut">
              <a:rPr lang="en-US" smtClean="0"/>
              <a:t>6/1/2026</a:t>
            </a:fld>
            <a:endParaRPr lang="en-US"/>
          </a:p>
        </p:txBody>
      </p:sp>
      <p:sp>
        <p:nvSpPr>
          <p:cNvPr id="6" name="Footer Placeholder 5">
            <a:extLst>
              <a:ext uri="{FF2B5EF4-FFF2-40B4-BE49-F238E27FC236}">
                <a16:creationId xmlns:a16="http://schemas.microsoft.com/office/drawing/2014/main" id="{FF83ED0D-6657-4A50-A5BF-CA7259A1DB4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6B5A8DD-14C0-4CBF-A664-9E0494A91050}"/>
              </a:ext>
            </a:extLst>
          </p:cNvPr>
          <p:cNvSpPr>
            <a:spLocks noGrp="1"/>
          </p:cNvSpPr>
          <p:nvPr>
            <p:ph type="sldNum" sz="quarter" idx="12"/>
          </p:nvPr>
        </p:nvSpPr>
        <p:spPr/>
        <p:txBody>
          <a:bodyPr/>
          <a:lstStyle/>
          <a:p>
            <a:fld id="{CB410872-B2BB-4F13-B463-80C58170E134}" type="slidenum">
              <a:rPr lang="en-US" smtClean="0"/>
              <a:t>‹#›</a:t>
            </a:fld>
            <a:endParaRPr lang="en-US"/>
          </a:p>
        </p:txBody>
      </p:sp>
    </p:spTree>
    <p:extLst>
      <p:ext uri="{BB962C8B-B14F-4D97-AF65-F5344CB8AC3E}">
        <p14:creationId xmlns:p14="http://schemas.microsoft.com/office/powerpoint/2010/main" val="35753270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08088F-6F7F-4147-B1FD-4817555A8F2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883CEE5-849C-4E8F-A9FB-D43168E41C5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35F12C2-2B19-4996-AD29-9D64749E780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7325D6A-A237-4787-9F72-7AA67BC31A76}"/>
              </a:ext>
            </a:extLst>
          </p:cNvPr>
          <p:cNvSpPr>
            <a:spLocks noGrp="1"/>
          </p:cNvSpPr>
          <p:nvPr>
            <p:ph type="dt" sz="half" idx="10"/>
          </p:nvPr>
        </p:nvSpPr>
        <p:spPr/>
        <p:txBody>
          <a:bodyPr/>
          <a:lstStyle/>
          <a:p>
            <a:fld id="{7987E773-7153-45E4-BC63-7F1AEF216F8F}" type="datetimeFigureOut">
              <a:rPr lang="en-US" smtClean="0"/>
              <a:t>6/1/2026</a:t>
            </a:fld>
            <a:endParaRPr lang="en-US"/>
          </a:p>
        </p:txBody>
      </p:sp>
      <p:sp>
        <p:nvSpPr>
          <p:cNvPr id="6" name="Footer Placeholder 5">
            <a:extLst>
              <a:ext uri="{FF2B5EF4-FFF2-40B4-BE49-F238E27FC236}">
                <a16:creationId xmlns:a16="http://schemas.microsoft.com/office/drawing/2014/main" id="{1E4C4750-00F8-45CF-A5A4-7F9569BBCBB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A5FC4C3-65F0-4F10-8FBA-90F1909E5BBA}"/>
              </a:ext>
            </a:extLst>
          </p:cNvPr>
          <p:cNvSpPr>
            <a:spLocks noGrp="1"/>
          </p:cNvSpPr>
          <p:nvPr>
            <p:ph type="sldNum" sz="quarter" idx="12"/>
          </p:nvPr>
        </p:nvSpPr>
        <p:spPr/>
        <p:txBody>
          <a:bodyPr/>
          <a:lstStyle/>
          <a:p>
            <a:fld id="{CB410872-B2BB-4F13-B463-80C58170E134}" type="slidenum">
              <a:rPr lang="en-US" smtClean="0"/>
              <a:t>‹#›</a:t>
            </a:fld>
            <a:endParaRPr lang="en-US"/>
          </a:p>
        </p:txBody>
      </p:sp>
    </p:spTree>
    <p:extLst>
      <p:ext uri="{BB962C8B-B14F-4D97-AF65-F5344CB8AC3E}">
        <p14:creationId xmlns:p14="http://schemas.microsoft.com/office/powerpoint/2010/main" val="21451526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79DD79-93FA-4567-A3A1-6B58F313CF0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7A3D032-7A8A-499F-9A78-8B15BB70569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752AEFB-3596-4058-9D02-B254F899DBC3}"/>
              </a:ext>
            </a:extLst>
          </p:cNvPr>
          <p:cNvSpPr>
            <a:spLocks noGrp="1"/>
          </p:cNvSpPr>
          <p:nvPr>
            <p:ph type="dt" sz="half" idx="10"/>
          </p:nvPr>
        </p:nvSpPr>
        <p:spPr/>
        <p:txBody>
          <a:bodyPr/>
          <a:lstStyle/>
          <a:p>
            <a:fld id="{7987E773-7153-45E4-BC63-7F1AEF216F8F}" type="datetimeFigureOut">
              <a:rPr lang="en-US" smtClean="0"/>
              <a:t>6/1/2026</a:t>
            </a:fld>
            <a:endParaRPr lang="en-US"/>
          </a:p>
        </p:txBody>
      </p:sp>
      <p:sp>
        <p:nvSpPr>
          <p:cNvPr id="5" name="Footer Placeholder 4">
            <a:extLst>
              <a:ext uri="{FF2B5EF4-FFF2-40B4-BE49-F238E27FC236}">
                <a16:creationId xmlns:a16="http://schemas.microsoft.com/office/drawing/2014/main" id="{981FA041-FC75-4301-9E5F-68FE060AC8A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580A571-B829-499B-9491-DEB200CD0819}"/>
              </a:ext>
            </a:extLst>
          </p:cNvPr>
          <p:cNvSpPr>
            <a:spLocks noGrp="1"/>
          </p:cNvSpPr>
          <p:nvPr>
            <p:ph type="sldNum" sz="quarter" idx="12"/>
          </p:nvPr>
        </p:nvSpPr>
        <p:spPr/>
        <p:txBody>
          <a:bodyPr/>
          <a:lstStyle/>
          <a:p>
            <a:fld id="{CB410872-B2BB-4F13-B463-80C58170E134}" type="slidenum">
              <a:rPr lang="en-US" smtClean="0"/>
              <a:t>‹#›</a:t>
            </a:fld>
            <a:endParaRPr lang="en-US"/>
          </a:p>
        </p:txBody>
      </p:sp>
    </p:spTree>
    <p:extLst>
      <p:ext uri="{BB962C8B-B14F-4D97-AF65-F5344CB8AC3E}">
        <p14:creationId xmlns:p14="http://schemas.microsoft.com/office/powerpoint/2010/main" val="23508118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698765D-95CF-4460-81B3-1C448C648AB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7331B6E-7062-41E3-AD13-3D5E4ACEA56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C959B0F-1291-4566-8F7B-4494C3EE999F}"/>
              </a:ext>
            </a:extLst>
          </p:cNvPr>
          <p:cNvSpPr>
            <a:spLocks noGrp="1"/>
          </p:cNvSpPr>
          <p:nvPr>
            <p:ph type="dt" sz="half" idx="10"/>
          </p:nvPr>
        </p:nvSpPr>
        <p:spPr/>
        <p:txBody>
          <a:bodyPr/>
          <a:lstStyle/>
          <a:p>
            <a:fld id="{7987E773-7153-45E4-BC63-7F1AEF216F8F}" type="datetimeFigureOut">
              <a:rPr lang="en-US" smtClean="0"/>
              <a:t>6/1/2026</a:t>
            </a:fld>
            <a:endParaRPr lang="en-US"/>
          </a:p>
        </p:txBody>
      </p:sp>
      <p:sp>
        <p:nvSpPr>
          <p:cNvPr id="5" name="Footer Placeholder 4">
            <a:extLst>
              <a:ext uri="{FF2B5EF4-FFF2-40B4-BE49-F238E27FC236}">
                <a16:creationId xmlns:a16="http://schemas.microsoft.com/office/drawing/2014/main" id="{F65EA73B-A939-4D74-BBDA-3D46F820BF6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4D3286-418F-4B8F-8FA9-A1ABB42C149A}"/>
              </a:ext>
            </a:extLst>
          </p:cNvPr>
          <p:cNvSpPr>
            <a:spLocks noGrp="1"/>
          </p:cNvSpPr>
          <p:nvPr>
            <p:ph type="sldNum" sz="quarter" idx="12"/>
          </p:nvPr>
        </p:nvSpPr>
        <p:spPr/>
        <p:txBody>
          <a:bodyPr/>
          <a:lstStyle/>
          <a:p>
            <a:fld id="{CB410872-B2BB-4F13-B463-80C58170E134}" type="slidenum">
              <a:rPr lang="en-US" smtClean="0"/>
              <a:t>‹#›</a:t>
            </a:fld>
            <a:endParaRPr lang="en-US"/>
          </a:p>
        </p:txBody>
      </p:sp>
    </p:spTree>
    <p:extLst>
      <p:ext uri="{BB962C8B-B14F-4D97-AF65-F5344CB8AC3E}">
        <p14:creationId xmlns:p14="http://schemas.microsoft.com/office/powerpoint/2010/main" val="1090211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133D30E-03F6-4511-B396-878FF6EB660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0DF9164-85CD-441D-8768-997D5BE4864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D3B15B1-C7AC-48DF-9A12-150D5D41C1F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987E773-7153-45E4-BC63-7F1AEF216F8F}" type="datetimeFigureOut">
              <a:rPr lang="en-US" smtClean="0"/>
              <a:t>6/1/2026</a:t>
            </a:fld>
            <a:endParaRPr lang="en-US"/>
          </a:p>
        </p:txBody>
      </p:sp>
      <p:sp>
        <p:nvSpPr>
          <p:cNvPr id="5" name="Footer Placeholder 4">
            <a:extLst>
              <a:ext uri="{FF2B5EF4-FFF2-40B4-BE49-F238E27FC236}">
                <a16:creationId xmlns:a16="http://schemas.microsoft.com/office/drawing/2014/main" id="{9843362F-2B2A-433D-8446-F4E0FAA7159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221DC01-DEC8-4295-9A48-4A5F1137926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B410872-B2BB-4F13-B463-80C58170E134}" type="slidenum">
              <a:rPr lang="en-US" smtClean="0"/>
              <a:t>‹#›</a:t>
            </a:fld>
            <a:endParaRPr lang="en-US"/>
          </a:p>
        </p:txBody>
      </p:sp>
    </p:spTree>
    <p:extLst>
      <p:ext uri="{BB962C8B-B14F-4D97-AF65-F5344CB8AC3E}">
        <p14:creationId xmlns:p14="http://schemas.microsoft.com/office/powerpoint/2010/main" val="36542912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E00C452-41DC-4021-8AF2-7FE70B5618AC}"/>
              </a:ext>
            </a:extLst>
          </p:cNvPr>
          <p:cNvPicPr>
            <a:picLocks noChangeAspect="1"/>
          </p:cNvPicPr>
          <p:nvPr/>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artisticLineDrawing/>
                    </a14:imgEffect>
                  </a14:imgLayer>
                </a14:imgProps>
              </a:ext>
              <a:ext uri="{28A0092B-C50C-407E-A947-70E740481C1C}">
                <a14:useLocalDpi xmlns:a14="http://schemas.microsoft.com/office/drawing/2010/main" val="0"/>
              </a:ext>
            </a:extLst>
          </a:blip>
          <a:stretch>
            <a:fillRect/>
          </a:stretch>
        </p:blipFill>
        <p:spPr>
          <a:xfrm>
            <a:off x="0" y="0"/>
            <a:ext cx="12192000" cy="7323893"/>
          </a:xfrm>
          <a:prstGeom prst="rect">
            <a:avLst/>
          </a:prstGeom>
        </p:spPr>
      </p:pic>
      <p:sp>
        <p:nvSpPr>
          <p:cNvPr id="2" name="Title 1">
            <a:extLst>
              <a:ext uri="{FF2B5EF4-FFF2-40B4-BE49-F238E27FC236}">
                <a16:creationId xmlns:a16="http://schemas.microsoft.com/office/drawing/2014/main" id="{09EECDBC-2D35-4BFB-8A6A-F71247511F90}"/>
              </a:ext>
            </a:extLst>
          </p:cNvPr>
          <p:cNvSpPr>
            <a:spLocks noGrp="1"/>
          </p:cNvSpPr>
          <p:nvPr>
            <p:ph type="ctrTitle"/>
          </p:nvPr>
        </p:nvSpPr>
        <p:spPr>
          <a:xfrm>
            <a:off x="1524000" y="583894"/>
            <a:ext cx="9144000" cy="3194892"/>
          </a:xfrm>
        </p:spPr>
        <p:txBody>
          <a:bodyPr/>
          <a:lstStyle/>
          <a:p>
            <a:r>
              <a:rPr lang="en-US" b="1" dirty="0">
                <a:latin typeface="Arial Rounded MT Bold" panose="020F0704030504030204" pitchFamily="34" charset="0"/>
              </a:rPr>
              <a:t>SUPERSTORE ANALYSIS</a:t>
            </a:r>
          </a:p>
        </p:txBody>
      </p:sp>
    </p:spTree>
    <p:extLst>
      <p:ext uri="{BB962C8B-B14F-4D97-AF65-F5344CB8AC3E}">
        <p14:creationId xmlns:p14="http://schemas.microsoft.com/office/powerpoint/2010/main" val="29043849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3CFFBC-6E6A-4DD6-9BB3-7D0BB90E6F46}"/>
              </a:ext>
            </a:extLst>
          </p:cNvPr>
          <p:cNvSpPr>
            <a:spLocks noGrp="1"/>
          </p:cNvSpPr>
          <p:nvPr>
            <p:ph type="title"/>
          </p:nvPr>
        </p:nvSpPr>
        <p:spPr/>
        <p:txBody>
          <a:bodyPr/>
          <a:lstStyle/>
          <a:p>
            <a:r>
              <a:rPr lang="en-US" dirty="0"/>
              <a:t>Overview</a:t>
            </a:r>
          </a:p>
        </p:txBody>
      </p:sp>
      <p:sp>
        <p:nvSpPr>
          <p:cNvPr id="3" name="Content Placeholder 2">
            <a:extLst>
              <a:ext uri="{FF2B5EF4-FFF2-40B4-BE49-F238E27FC236}">
                <a16:creationId xmlns:a16="http://schemas.microsoft.com/office/drawing/2014/main" id="{A5266FBB-7610-433B-8E47-1F22B12B5415}"/>
              </a:ext>
            </a:extLst>
          </p:cNvPr>
          <p:cNvSpPr>
            <a:spLocks noGrp="1"/>
          </p:cNvSpPr>
          <p:nvPr>
            <p:ph idx="1"/>
          </p:nvPr>
        </p:nvSpPr>
        <p:spPr>
          <a:xfrm>
            <a:off x="838200" y="1520328"/>
            <a:ext cx="10515600" cy="4656635"/>
          </a:xfrm>
        </p:spPr>
        <p:txBody>
          <a:bodyPr>
            <a:normAutofit/>
          </a:bodyPr>
          <a:lstStyle/>
          <a:p>
            <a:pPr marL="0" indent="0">
              <a:buNone/>
            </a:pPr>
            <a:r>
              <a:rPr lang="en-US" sz="2400" dirty="0"/>
              <a:t>Superstore dataset was gotten Kaggle website which represents the sales of various products under the category of furniture, office supplies and technology. The dataset shows the subcategories, shipping details across various locations and performance trends, it clearly provides business insights on sales generated, profit made and discount given across all products. The primary objective of the dataset is to analyze and extract strategic information on products that needs to given proper market campaigns, products in which the company making loss. The analysis will help stakeholders identify trends at a glance instead of looking at rows of raw data. </a:t>
            </a:r>
          </a:p>
        </p:txBody>
      </p:sp>
    </p:spTree>
    <p:extLst>
      <p:ext uri="{BB962C8B-B14F-4D97-AF65-F5344CB8AC3E}">
        <p14:creationId xmlns:p14="http://schemas.microsoft.com/office/powerpoint/2010/main" val="8495446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B74240-D4D7-4784-BD2C-B64C12B11EC5}"/>
              </a:ext>
            </a:extLst>
          </p:cNvPr>
          <p:cNvSpPr>
            <a:spLocks noGrp="1"/>
          </p:cNvSpPr>
          <p:nvPr>
            <p:ph type="title"/>
          </p:nvPr>
        </p:nvSpPr>
        <p:spPr/>
        <p:txBody>
          <a:bodyPr/>
          <a:lstStyle/>
          <a:p>
            <a:r>
              <a:rPr lang="en-US" dirty="0"/>
              <a:t>Business Problem</a:t>
            </a:r>
          </a:p>
        </p:txBody>
      </p:sp>
      <p:sp>
        <p:nvSpPr>
          <p:cNvPr id="3" name="Content Placeholder 2">
            <a:extLst>
              <a:ext uri="{FF2B5EF4-FFF2-40B4-BE49-F238E27FC236}">
                <a16:creationId xmlns:a16="http://schemas.microsoft.com/office/drawing/2014/main" id="{10150C37-D1DD-4C90-BEA4-0B76184C4B54}"/>
              </a:ext>
            </a:extLst>
          </p:cNvPr>
          <p:cNvSpPr>
            <a:spLocks noGrp="1"/>
          </p:cNvSpPr>
          <p:nvPr>
            <p:ph idx="1"/>
          </p:nvPr>
        </p:nvSpPr>
        <p:spPr>
          <a:xfrm>
            <a:off x="838200" y="1366092"/>
            <a:ext cx="10515600" cy="4810871"/>
          </a:xfrm>
        </p:spPr>
        <p:txBody>
          <a:bodyPr/>
          <a:lstStyle/>
          <a:p>
            <a:r>
              <a:rPr lang="en-US" sz="2400" dirty="0"/>
              <a:t>Which region generates the most profit?</a:t>
            </a:r>
          </a:p>
          <a:p>
            <a:r>
              <a:rPr lang="en-US" sz="2400" dirty="0"/>
              <a:t>Which productions are underperforming?</a:t>
            </a:r>
          </a:p>
          <a:p>
            <a:r>
              <a:rPr lang="en-US" sz="2400" dirty="0"/>
              <a:t>The states that generated the most revenue</a:t>
            </a:r>
          </a:p>
          <a:p>
            <a:r>
              <a:rPr lang="en-US" sz="2400" dirty="0"/>
              <a:t>What is the total revenue generated, profit made, discount given</a:t>
            </a:r>
          </a:p>
          <a:p>
            <a:r>
              <a:rPr lang="en-US" sz="2400" dirty="0"/>
              <a:t>Sales trend by month and weekday</a:t>
            </a:r>
          </a:p>
          <a:p>
            <a:r>
              <a:rPr lang="en-US" sz="2400" dirty="0"/>
              <a:t>Day difference between ship date and order date, to identify products with same day delivery and the days it took for products to be delivered</a:t>
            </a:r>
          </a:p>
          <a:p>
            <a:r>
              <a:rPr lang="en-US" sz="2400" dirty="0"/>
              <a:t>Sales/ profit generated by segment, category and subcategory</a:t>
            </a:r>
          </a:p>
          <a:p>
            <a:endParaRPr lang="en-US" dirty="0"/>
          </a:p>
          <a:p>
            <a:endParaRPr lang="en-US" dirty="0"/>
          </a:p>
        </p:txBody>
      </p:sp>
    </p:spTree>
    <p:extLst>
      <p:ext uri="{BB962C8B-B14F-4D97-AF65-F5344CB8AC3E}">
        <p14:creationId xmlns:p14="http://schemas.microsoft.com/office/powerpoint/2010/main" val="37758642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33C1B1-A174-4610-BD53-5E0D0907930B}"/>
              </a:ext>
            </a:extLst>
          </p:cNvPr>
          <p:cNvSpPr>
            <a:spLocks noGrp="1"/>
          </p:cNvSpPr>
          <p:nvPr>
            <p:ph type="title"/>
          </p:nvPr>
        </p:nvSpPr>
        <p:spPr/>
        <p:txBody>
          <a:bodyPr/>
          <a:lstStyle/>
          <a:p>
            <a:r>
              <a:rPr lang="en-US" dirty="0"/>
              <a:t>KPI METRICS</a:t>
            </a:r>
          </a:p>
        </p:txBody>
      </p:sp>
      <p:sp>
        <p:nvSpPr>
          <p:cNvPr id="3" name="Content Placeholder 2">
            <a:extLst>
              <a:ext uri="{FF2B5EF4-FFF2-40B4-BE49-F238E27FC236}">
                <a16:creationId xmlns:a16="http://schemas.microsoft.com/office/drawing/2014/main" id="{EB33A33A-EA43-4046-AFE7-49779742E535}"/>
              </a:ext>
            </a:extLst>
          </p:cNvPr>
          <p:cNvSpPr>
            <a:spLocks noGrp="1"/>
          </p:cNvSpPr>
          <p:nvPr>
            <p:ph idx="1"/>
          </p:nvPr>
        </p:nvSpPr>
        <p:spPr>
          <a:xfrm>
            <a:off x="838200" y="1410159"/>
            <a:ext cx="10515600" cy="5310130"/>
          </a:xfrm>
        </p:spPr>
        <p:txBody>
          <a:bodyPr/>
          <a:lstStyle/>
          <a:p>
            <a:pPr marL="0" indent="0">
              <a:buNone/>
            </a:pPr>
            <a:r>
              <a:rPr lang="en-US" sz="2400" dirty="0"/>
              <a:t>Total sales / revenue	Revenue generated from all transactions</a:t>
            </a:r>
          </a:p>
          <a:p>
            <a:pPr marL="0" indent="0">
              <a:buNone/>
            </a:pPr>
            <a:r>
              <a:rPr lang="en-US" sz="2400" dirty="0"/>
              <a:t>Profit margin		Profit percentage</a:t>
            </a:r>
          </a:p>
          <a:p>
            <a:pPr marL="0" indent="0">
              <a:buNone/>
            </a:pPr>
            <a:r>
              <a:rPr lang="en-US" sz="2400" dirty="0"/>
              <a:t>Price per unit		Average price per product unit</a:t>
            </a:r>
          </a:p>
          <a:p>
            <a:pPr marL="0" indent="0">
              <a:buNone/>
            </a:pPr>
            <a:r>
              <a:rPr lang="en-US" sz="2400" dirty="0"/>
              <a:t>Total quantity		Total units sold</a:t>
            </a:r>
          </a:p>
          <a:p>
            <a:pPr marL="0" indent="0">
              <a:buNone/>
            </a:pPr>
            <a:r>
              <a:rPr lang="en-US" sz="2400" dirty="0"/>
              <a:t>Total discount		The sum of discount given</a:t>
            </a:r>
          </a:p>
          <a:p>
            <a:pPr marL="0" indent="0">
              <a:buNone/>
            </a:pPr>
            <a:r>
              <a:rPr lang="en-US" sz="2400" dirty="0"/>
              <a:t>Total profit		Total earnings after cost removal</a:t>
            </a:r>
          </a:p>
          <a:p>
            <a:pPr marL="0" indent="0">
              <a:buNone/>
            </a:pPr>
            <a:endParaRPr lang="en-US" dirty="0"/>
          </a:p>
        </p:txBody>
      </p:sp>
    </p:spTree>
    <p:extLst>
      <p:ext uri="{BB962C8B-B14F-4D97-AF65-F5344CB8AC3E}">
        <p14:creationId xmlns:p14="http://schemas.microsoft.com/office/powerpoint/2010/main" val="17457787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A7416CB-0B38-4F5F-84EF-BD8C534C49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3164322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405D39-2ECE-492A-81CF-B667F69D80C7}"/>
              </a:ext>
            </a:extLst>
          </p:cNvPr>
          <p:cNvSpPr>
            <a:spLocks noGrp="1"/>
          </p:cNvSpPr>
          <p:nvPr>
            <p:ph type="title"/>
          </p:nvPr>
        </p:nvSpPr>
        <p:spPr>
          <a:xfrm>
            <a:off x="838200" y="104660"/>
            <a:ext cx="10515600" cy="534318"/>
          </a:xfrm>
        </p:spPr>
        <p:txBody>
          <a:bodyPr>
            <a:normAutofit fontScale="90000"/>
          </a:bodyPr>
          <a:lstStyle/>
          <a:p>
            <a:r>
              <a:rPr lang="en-US" dirty="0"/>
              <a:t>Key insights</a:t>
            </a:r>
          </a:p>
        </p:txBody>
      </p:sp>
      <p:sp>
        <p:nvSpPr>
          <p:cNvPr id="3" name="Content Placeholder 2">
            <a:extLst>
              <a:ext uri="{FF2B5EF4-FFF2-40B4-BE49-F238E27FC236}">
                <a16:creationId xmlns:a16="http://schemas.microsoft.com/office/drawing/2014/main" id="{B2B6C202-9EA5-4C08-B601-DD6F94AC3A1C}"/>
              </a:ext>
            </a:extLst>
          </p:cNvPr>
          <p:cNvSpPr>
            <a:spLocks noGrp="1"/>
          </p:cNvSpPr>
          <p:nvPr>
            <p:ph idx="1"/>
          </p:nvPr>
        </p:nvSpPr>
        <p:spPr>
          <a:xfrm>
            <a:off x="838200" y="870332"/>
            <a:ext cx="10515600" cy="5883007"/>
          </a:xfrm>
        </p:spPr>
        <p:txBody>
          <a:bodyPr>
            <a:normAutofit/>
          </a:bodyPr>
          <a:lstStyle/>
          <a:p>
            <a:r>
              <a:rPr lang="en-US" sz="2400" dirty="0"/>
              <a:t>Trend Analysis</a:t>
            </a:r>
          </a:p>
          <a:p>
            <a:pPr marL="0" indent="0">
              <a:buNone/>
            </a:pPr>
            <a:r>
              <a:rPr lang="en-US" sz="2400" dirty="0"/>
              <a:t>	Sales dropped drastically on Wednesday</a:t>
            </a:r>
          </a:p>
          <a:p>
            <a:pPr marL="0" indent="0">
              <a:buNone/>
            </a:pPr>
            <a:r>
              <a:rPr lang="en-US" sz="2400" dirty="0"/>
              <a:t>	Sales trended up from 2014 to 2017 with peak performance in 2017</a:t>
            </a:r>
          </a:p>
          <a:p>
            <a:pPr marL="0" indent="0">
              <a:buNone/>
            </a:pPr>
            <a:r>
              <a:rPr lang="en-US" sz="2400" dirty="0"/>
              <a:t>	Sales significantly increased in the 4</a:t>
            </a:r>
            <a:r>
              <a:rPr lang="en-US" sz="2400" baseline="30000" dirty="0"/>
              <a:t>th</a:t>
            </a:r>
            <a:r>
              <a:rPr lang="en-US" sz="2400" dirty="0"/>
              <a:t> quarter and peaked in the month of 	November. </a:t>
            </a:r>
          </a:p>
          <a:p>
            <a:r>
              <a:rPr lang="en-US" sz="2400" dirty="0"/>
              <a:t>Discounts above 6% resulted in loss subsequently</a:t>
            </a:r>
          </a:p>
          <a:p>
            <a:r>
              <a:rPr lang="en-US" sz="2400" dirty="0"/>
              <a:t>Phones and chairs generated the most sales</a:t>
            </a:r>
          </a:p>
          <a:p>
            <a:r>
              <a:rPr lang="en-US" sz="2400" dirty="0"/>
              <a:t>The most profit was generated in the western region and the only region where the profit is more than the discount given. Other regions have their profits less the discount given ranging from 3% to 97% increase</a:t>
            </a:r>
          </a:p>
          <a:p>
            <a:r>
              <a:rPr lang="en-US" sz="2400" dirty="0"/>
              <a:t>Majority of products are shipped through standard class and it takes averagely 4 days to get products shipped</a:t>
            </a:r>
          </a:p>
          <a:p>
            <a:endParaRPr lang="en-US" sz="2400" dirty="0"/>
          </a:p>
          <a:p>
            <a:pPr marL="0" indent="0">
              <a:buNone/>
            </a:pPr>
            <a:endParaRPr lang="en-US" sz="2400" dirty="0"/>
          </a:p>
          <a:p>
            <a:pPr marL="0" indent="0">
              <a:buNone/>
            </a:pPr>
            <a:endParaRPr lang="en-US" sz="2400" dirty="0"/>
          </a:p>
          <a:p>
            <a:pPr marL="0" indent="0">
              <a:buNone/>
            </a:pPr>
            <a:endParaRPr lang="en-US" dirty="0"/>
          </a:p>
        </p:txBody>
      </p:sp>
    </p:spTree>
    <p:extLst>
      <p:ext uri="{BB962C8B-B14F-4D97-AF65-F5344CB8AC3E}">
        <p14:creationId xmlns:p14="http://schemas.microsoft.com/office/powerpoint/2010/main" val="13459659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4FA249-F5B7-4EE4-8779-33A2F6CDC520}"/>
              </a:ext>
            </a:extLst>
          </p:cNvPr>
          <p:cNvSpPr>
            <a:spLocks noGrp="1"/>
          </p:cNvSpPr>
          <p:nvPr>
            <p:ph type="title"/>
          </p:nvPr>
        </p:nvSpPr>
        <p:spPr/>
        <p:txBody>
          <a:bodyPr/>
          <a:lstStyle/>
          <a:p>
            <a:r>
              <a:rPr lang="en-US" dirty="0"/>
              <a:t>Recommendations </a:t>
            </a:r>
          </a:p>
        </p:txBody>
      </p:sp>
      <p:sp>
        <p:nvSpPr>
          <p:cNvPr id="3" name="Content Placeholder 2">
            <a:extLst>
              <a:ext uri="{FF2B5EF4-FFF2-40B4-BE49-F238E27FC236}">
                <a16:creationId xmlns:a16="http://schemas.microsoft.com/office/drawing/2014/main" id="{648152A5-95C2-4868-BF52-7D3E2F47C896}"/>
              </a:ext>
            </a:extLst>
          </p:cNvPr>
          <p:cNvSpPr>
            <a:spLocks noGrp="1"/>
          </p:cNvSpPr>
          <p:nvPr>
            <p:ph idx="1"/>
          </p:nvPr>
        </p:nvSpPr>
        <p:spPr>
          <a:xfrm>
            <a:off x="838200" y="1388125"/>
            <a:ext cx="10515600" cy="4788838"/>
          </a:xfrm>
        </p:spPr>
        <p:txBody>
          <a:bodyPr/>
          <a:lstStyle/>
          <a:p>
            <a:r>
              <a:rPr lang="en-US" sz="2400" dirty="0"/>
              <a:t>Launch marketing campaigns or outreach across locations on Wednesdays to improve sales on this weekday</a:t>
            </a:r>
          </a:p>
          <a:p>
            <a:r>
              <a:rPr lang="en-US" sz="2400" dirty="0"/>
              <a:t>Reduce discounts on low profit products</a:t>
            </a:r>
          </a:p>
          <a:p>
            <a:r>
              <a:rPr lang="en-US" sz="2400" dirty="0"/>
              <a:t>Each region should review discounts the given to make sure there is a scalable balance that makes profit outweigh discounts</a:t>
            </a:r>
          </a:p>
          <a:p>
            <a:r>
              <a:rPr lang="en-US" sz="2400" dirty="0"/>
              <a:t>Products that are underperforming should reviewed for marketing or discontinuation</a:t>
            </a:r>
          </a:p>
          <a:p>
            <a:r>
              <a:rPr lang="en-US" sz="2400" dirty="0"/>
              <a:t>Keep the promotion of phones and chairs up and double down on the remaining products to avoid fully relying on just phones and chairs</a:t>
            </a:r>
          </a:p>
          <a:p>
            <a:r>
              <a:rPr lang="en-US" sz="2400" dirty="0"/>
              <a:t>Increase investment on technology and office supplies</a:t>
            </a:r>
          </a:p>
          <a:p>
            <a:endParaRPr lang="en-US" dirty="0"/>
          </a:p>
        </p:txBody>
      </p:sp>
    </p:spTree>
    <p:extLst>
      <p:ext uri="{BB962C8B-B14F-4D97-AF65-F5344CB8AC3E}">
        <p14:creationId xmlns:p14="http://schemas.microsoft.com/office/powerpoint/2010/main" val="36505474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D063C4-3A7D-46D7-A672-14938CCCAD80}"/>
              </a:ext>
            </a:extLst>
          </p:cNvPr>
          <p:cNvSpPr>
            <a:spLocks noGrp="1"/>
          </p:cNvSpPr>
          <p:nvPr>
            <p:ph type="title"/>
          </p:nvPr>
        </p:nvSpPr>
        <p:spPr>
          <a:xfrm>
            <a:off x="838200" y="365126"/>
            <a:ext cx="10515600" cy="769612"/>
          </a:xfrm>
        </p:spPr>
        <p:txBody>
          <a:bodyPr/>
          <a:lstStyle/>
          <a:p>
            <a:r>
              <a:rPr lang="en-US" dirty="0"/>
              <a:t>CONCLUSION</a:t>
            </a:r>
          </a:p>
        </p:txBody>
      </p:sp>
      <p:sp>
        <p:nvSpPr>
          <p:cNvPr id="3" name="Content Placeholder 2">
            <a:extLst>
              <a:ext uri="{FF2B5EF4-FFF2-40B4-BE49-F238E27FC236}">
                <a16:creationId xmlns:a16="http://schemas.microsoft.com/office/drawing/2014/main" id="{D3211A3A-2127-482C-9DC0-6AE4A4FE2278}"/>
              </a:ext>
            </a:extLst>
          </p:cNvPr>
          <p:cNvSpPr>
            <a:spLocks noGrp="1"/>
          </p:cNvSpPr>
          <p:nvPr>
            <p:ph idx="1"/>
          </p:nvPr>
        </p:nvSpPr>
        <p:spPr>
          <a:xfrm>
            <a:off x="838200" y="1134738"/>
            <a:ext cx="10515600" cy="5523970"/>
          </a:xfrm>
        </p:spPr>
        <p:txBody>
          <a:bodyPr/>
          <a:lstStyle/>
          <a:p>
            <a:r>
              <a:rPr lang="en-US" sz="2400" dirty="0"/>
              <a:t>The analysis showed that high sales does not equate profitability as seen in the furniture category which made  $742,000 but a profit margin of 2.49% compared to other categories with over 17% profit margin each.</a:t>
            </a:r>
          </a:p>
          <a:p>
            <a:endParaRPr lang="en-US" sz="2400" dirty="0"/>
          </a:p>
          <a:p>
            <a:pPr marL="0" indent="0">
              <a:buNone/>
            </a:pPr>
            <a:r>
              <a:rPr lang="en-US" dirty="0"/>
              <a:t>			Findings</a:t>
            </a:r>
          </a:p>
          <a:p>
            <a:r>
              <a:rPr lang="en-US" sz="2400" dirty="0"/>
              <a:t>Certain regions need to review their discount strategy for profit improvement</a:t>
            </a:r>
          </a:p>
          <a:p>
            <a:r>
              <a:rPr lang="en-US" sz="2400" dirty="0"/>
              <a:t>Technology products drive the most profit</a:t>
            </a:r>
          </a:p>
          <a:p>
            <a:r>
              <a:rPr lang="en-US" sz="2400" dirty="0"/>
              <a:t>High discounts affected profit margin negatively</a:t>
            </a:r>
          </a:p>
          <a:p>
            <a:pPr marL="0" indent="0">
              <a:buNone/>
            </a:pPr>
            <a:endParaRPr lang="en-US" sz="2400" dirty="0"/>
          </a:p>
          <a:p>
            <a:pPr marL="0" indent="0">
              <a:buNone/>
            </a:pPr>
            <a:r>
              <a:rPr lang="en-US" sz="2400" dirty="0"/>
              <a:t>		</a:t>
            </a:r>
          </a:p>
          <a:p>
            <a:pPr marL="0" indent="0">
              <a:buNone/>
            </a:pPr>
            <a:endParaRPr lang="en-US" sz="2400" dirty="0"/>
          </a:p>
          <a:p>
            <a:pPr marL="0" indent="0">
              <a:buNone/>
            </a:pPr>
            <a:endParaRPr lang="en-US" sz="2400" dirty="0"/>
          </a:p>
        </p:txBody>
      </p:sp>
    </p:spTree>
    <p:extLst>
      <p:ext uri="{BB962C8B-B14F-4D97-AF65-F5344CB8AC3E}">
        <p14:creationId xmlns:p14="http://schemas.microsoft.com/office/powerpoint/2010/main" val="37231338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447</TotalTime>
  <Words>503</Words>
  <Application>Microsoft Office PowerPoint</Application>
  <PresentationFormat>Widescreen</PresentationFormat>
  <Paragraphs>45</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Arial Rounded MT Bold</vt:lpstr>
      <vt:lpstr>Calibri</vt:lpstr>
      <vt:lpstr>Calibri Light</vt:lpstr>
      <vt:lpstr>Office Theme</vt:lpstr>
      <vt:lpstr>SUPERSTORE ANALYSIS</vt:lpstr>
      <vt:lpstr>Overview</vt:lpstr>
      <vt:lpstr>Business Problem</vt:lpstr>
      <vt:lpstr>KPI METRICS</vt:lpstr>
      <vt:lpstr>PowerPoint Presentation</vt:lpstr>
      <vt:lpstr>Key insights</vt:lpstr>
      <vt:lpstr>Recommendations </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SUPERSTORE ANALYSIS</dc:title>
  <dc:creator>mercy ajayi</dc:creator>
  <cp:lastModifiedBy>mercy ajayi</cp:lastModifiedBy>
  <cp:revision>5</cp:revision>
  <dcterms:created xsi:type="dcterms:W3CDTF">2026-05-29T19:18:19Z</dcterms:created>
  <dcterms:modified xsi:type="dcterms:W3CDTF">2026-06-01T04:59:49Z</dcterms:modified>
</cp:coreProperties>
</file>